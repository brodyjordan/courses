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7" r:id="rId2"/>
  </p:sldMasterIdLst>
  <p:notesMasterIdLst>
    <p:notesMasterId r:id="rId22"/>
  </p:notesMasterIdLst>
  <p:sldIdLst>
    <p:sldId id="263" r:id="rId3"/>
    <p:sldId id="257" r:id="rId4"/>
    <p:sldId id="265" r:id="rId5"/>
    <p:sldId id="269" r:id="rId6"/>
    <p:sldId id="268" r:id="rId7"/>
    <p:sldId id="277" r:id="rId8"/>
    <p:sldId id="288" r:id="rId9"/>
    <p:sldId id="270" r:id="rId10"/>
    <p:sldId id="276" r:id="rId11"/>
    <p:sldId id="266" r:id="rId12"/>
    <p:sldId id="278" r:id="rId13"/>
    <p:sldId id="279" r:id="rId14"/>
    <p:sldId id="285" r:id="rId15"/>
    <p:sldId id="289" r:id="rId16"/>
    <p:sldId id="281" r:id="rId17"/>
    <p:sldId id="282" r:id="rId18"/>
    <p:sldId id="274" r:id="rId19"/>
    <p:sldId id="275" r:id="rId20"/>
    <p:sldId id="262" r:id="rId21"/>
  </p:sldIdLst>
  <p:sldSz cx="12192000" cy="6858000"/>
  <p:notesSz cx="6858000" cy="9144000"/>
  <p:embeddedFontLst>
    <p:embeddedFont>
      <p:font typeface="Arial Black" panose="020B0A04020102020204" pitchFamily="34" charset="0"/>
      <p:bold r:id="rId23"/>
    </p:embeddedFont>
    <p:embeddedFont>
      <p:font typeface="Arial Narrow" panose="020B0606020202030204" pitchFamily="34" charset="0"/>
      <p:regular r:id="rId24"/>
      <p:bold r:id="rId25"/>
      <p:italic r:id="rId26"/>
      <p:boldItalic r:id="rId27"/>
    </p:embeddedFont>
    <p:embeddedFont>
      <p:font typeface="Open Sans" panose="020B0606030504020204" pitchFamily="2" charset="0"/>
      <p:regular r:id="rId28"/>
      <p:bold r:id="rId29"/>
      <p:italic r:id="rId30"/>
      <p:boldItalic r:id="rId31"/>
    </p:embeddedFont>
    <p:embeddedFont>
      <p:font typeface="Open Sans ExtraBold" panose="020B0906030804020204" pitchFamily="2" charset="0"/>
      <p:bold r:id="rId32"/>
      <p:boldItalic r:id="rId33"/>
    </p:embeddedFont>
    <p:embeddedFont>
      <p:font typeface="Open Sans ExtraBold" panose="020B0906030804020204" pitchFamily="2" charset="0"/>
      <p:bold r:id="rId32"/>
      <p:boldItalic r:id="rId33"/>
    </p:embeddedFont>
    <p:embeddedFont>
      <p:font typeface="Oswald" panose="00000500000000000000" pitchFamily="2" charset="0"/>
      <p:regular r:id="rId34"/>
      <p:bold r:id="rId35"/>
      <p:italic r:id="rId36"/>
      <p:boldItalic r:id="rId3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jel7yHO2ytr50e6vkC5J+GYoAWP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1"/>
    <p:restoredTop sz="79730" autoAdjust="0"/>
  </p:normalViewPr>
  <p:slideViewPr>
    <p:cSldViewPr snapToGrid="0">
      <p:cViewPr varScale="1">
        <p:scale>
          <a:sx n="82" d="100"/>
          <a:sy n="82" d="100"/>
        </p:scale>
        <p:origin x="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4.fntdata"/><Relationship Id="rId39" Type="http://schemas.openxmlformats.org/officeDocument/2006/relationships/presProps" Target="presProps.xml"/><Relationship Id="rId21" Type="http://schemas.openxmlformats.org/officeDocument/2006/relationships/slide" Target="slides/slide19.xml"/><Relationship Id="rId34" Type="http://schemas.openxmlformats.org/officeDocument/2006/relationships/font" Target="fonts/font12.fntdata"/><Relationship Id="rId42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7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9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be presenting two papers today, both published in 2024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F4F8C-1785-AC43-97F9-C9301BD933C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144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Left Side (HART):</a:t>
            </a:r>
            <a:r>
              <a:rPr lang="en-US" dirty="0"/>
              <a:t> "Fixing Autoregression." Key bullets: Hybrid tokens, continuous details.</a:t>
            </a:r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Right Side (SANA):</a:t>
            </a:r>
            <a:r>
              <a:rPr lang="en-US" dirty="0"/>
              <a:t> "Fixing Diffusion." Key bullets: 32x compression, Linear attention.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4" name="Google Shape;8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B2C3B-A51F-273B-74D8-5F51542E3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F3B0F-67AA-1CDB-B93D-ACC16FBF6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A0634E-A1A8-C83D-BD99-022771FE8F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be presenting two papers today, both published at ICLR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E818F0-143C-8579-DBCF-2254B16AB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F4F8C-1785-AC43-97F9-C9301BD933C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967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36A54ECA-8557-254A-054E-4E372BBCA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EEE35E86-1BA1-8CF8-75F3-5D5DB2498E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AC8A83E7-BA82-323F-ED41-7D443148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2400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875C1CD9-56B6-0523-8A48-AB6E2E143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C52177F-FA90-8B2A-1753-ACC05CD19D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sum of discrete latents derived from a VAR (Visual </a:t>
            </a:r>
            <a:r>
              <a:rPr lang="en-US" dirty="0" err="1"/>
              <a:t>AutoRegressive</a:t>
            </a:r>
            <a:r>
              <a:rPr lang="en-US" dirty="0"/>
              <a:t> modeling) tokenizer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These two latents are then modeled by our hybrid transformer: the discrete </a:t>
            </a:r>
            <a:r>
              <a:rPr lang="en-US" dirty="0" err="1"/>
              <a:t>latentsare</a:t>
            </a:r>
            <a:r>
              <a:rPr lang="en-US" dirty="0"/>
              <a:t> handled by a scalable-resolution VAR transformer, while the continuous latents are predicted </a:t>
            </a:r>
            <a:r>
              <a:rPr lang="en-US" dirty="0" err="1"/>
              <a:t>bya</a:t>
            </a:r>
            <a:r>
              <a:rPr lang="en-US" dirty="0"/>
              <a:t> lightweight residual diffusion module with 5% parameter and 10% runtime overhead.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64059DAB-661C-2735-064B-4F856715CE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8872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A74A15D5-113B-EC38-13DE-88E8EE05D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709FA534-DC59-4A55-7AF2-1BBF035C4C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Unlike conventional image tokenizers that decode either continuous or discrete latents, </a:t>
            </a:r>
            <a:r>
              <a:rPr lang="en-US" dirty="0" err="1"/>
              <a:t>thehybrid</a:t>
            </a:r>
            <a:r>
              <a:rPr lang="en-US" dirty="0"/>
              <a:t> tokenizer in HART is trained to decode both continuous and discrete tokens. At </a:t>
            </a:r>
            <a:r>
              <a:rPr lang="en-US" dirty="0" err="1"/>
              <a:t>inferencetime</a:t>
            </a:r>
            <a:r>
              <a:rPr lang="en-US" dirty="0"/>
              <a:t>, we only decode continuous tokens, which are the sum of discrete tokens and residual </a:t>
            </a:r>
            <a:r>
              <a:rPr lang="en-US" dirty="0" err="1"/>
              <a:t>tokens.The</a:t>
            </a:r>
            <a:r>
              <a:rPr lang="en-US" dirty="0"/>
              <a:t> residual tokens will be modeled by residual diffusion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CE6556C9-3C65-9AF7-5CC0-A857A978E7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9865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F9CE5C14-34E8-7E1A-7677-F08A97A30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34DEC5DB-0329-8F39-067B-E22D09BA38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Unlike conventional image tokenizers that decode either continuous or discrete latents, </a:t>
            </a:r>
            <a:r>
              <a:rPr lang="en-US" dirty="0" err="1"/>
              <a:t>thehybrid</a:t>
            </a:r>
            <a:r>
              <a:rPr lang="en-US" dirty="0"/>
              <a:t> tokenizer in HART is trained to decode both continuous and discrete tokens. At </a:t>
            </a:r>
            <a:r>
              <a:rPr lang="en-US" dirty="0" err="1"/>
              <a:t>inferencetime</a:t>
            </a:r>
            <a:r>
              <a:rPr lang="en-US" dirty="0"/>
              <a:t>, we only decode continuous tokens, which are the sum of discrete tokens and residual </a:t>
            </a:r>
            <a:r>
              <a:rPr lang="en-US" dirty="0" err="1"/>
              <a:t>tokens.The</a:t>
            </a:r>
            <a:r>
              <a:rPr lang="en-US" dirty="0"/>
              <a:t> residual tokens will be modeled by residual diffusion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B00E2745-591A-AE26-F0C0-45F382FB62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46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01876A23-BB9D-650A-FB5E-8C0439210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F8B3AD23-D3AB-CEAD-7784-1E305339F8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he performance of HART on MJHQ-30K, </a:t>
            </a:r>
            <a:r>
              <a:rPr lang="en-US" dirty="0" err="1"/>
              <a:t>GenEval</a:t>
            </a:r>
            <a:r>
              <a:rPr lang="en-US" dirty="0"/>
              <a:t> and DPG-Bench benchmarks. </a:t>
            </a:r>
            <a:r>
              <a:rPr lang="en-US" dirty="0" err="1"/>
              <a:t>Wecompare</a:t>
            </a:r>
            <a:r>
              <a:rPr lang="en-US" dirty="0"/>
              <a:t> HART with open-source diffusion models and autoregressive models. Results </a:t>
            </a:r>
            <a:r>
              <a:rPr lang="en-US" dirty="0" err="1"/>
              <a:t>demonstratethat</a:t>
            </a:r>
            <a:r>
              <a:rPr lang="en-US" dirty="0"/>
              <a:t> HART can achieve comparable performance to state-of-the-art diffusion models with &lt;1B parameters, surpassing prior autoregressive models by a large margin.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E2D13E17-EB81-EE47-A237-916312D23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58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859850C7-5426-1E66-3E01-5A66E0080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5BE4A70C-033D-03CC-6443-DADA7F9DC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Compared to state-of-the-art diffusion models, HART achieves 5.0-9.6× higher throughput and 4.0-4.7× lower latency at 512×512 resolution. At 1024×1024 resolution, it demonstrates 4.57.7× higher throughput and 3.1-5.9× lower latency.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 evaluate HART on ImageNet (Deng et al., 2009) for class conditioned image generation, and on MJHQ-30K (Li et al., 2024a), </a:t>
            </a:r>
            <a:r>
              <a:rPr lang="en-US" dirty="0" err="1"/>
              <a:t>GenEval</a:t>
            </a:r>
            <a:r>
              <a:rPr lang="en-US" dirty="0"/>
              <a:t> (Ghosh et al., 2024),and DPG-Bench (Hu et al., 2024) for text-to-image generation. The HART tokenizer is trained on </a:t>
            </a:r>
            <a:r>
              <a:rPr lang="en-US" dirty="0" err="1"/>
              <a:t>OpenImages</a:t>
            </a:r>
            <a:r>
              <a:rPr lang="en-US" dirty="0"/>
              <a:t> (Kuznetsova et al., 2020). For HART transformer training, we utilize ImageNet, </a:t>
            </a:r>
            <a:r>
              <a:rPr lang="en-US" dirty="0" err="1"/>
              <a:t>JourneyDB</a:t>
            </a:r>
            <a:r>
              <a:rPr lang="en-US" dirty="0"/>
              <a:t> (Pan et al., 2023), and internal </a:t>
            </a:r>
            <a:r>
              <a:rPr lang="en-US" dirty="0" err="1"/>
              <a:t>MidJourney</a:t>
            </a:r>
            <a:r>
              <a:rPr lang="en-US" dirty="0"/>
              <a:t>-style synthetic data. All text-to-image generation data are recaptioned using VILA1.5-13B (Lin et al., 2024). We measure all quality and efficiency metrics using open-source models with recommended sampling parameters as released by their authors. Latency and throughput (batch=8) measurements are conducted on NVIDIA A100.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A27C385B-F0F0-C247-A292-41B0643677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1789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24612-08FC-9ED7-CC28-A123C9CCC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21E4D4-745E-54E3-1220-D70D456090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51E2BA-4CD3-ED6D-6377-199DB6777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be presenting two papers today, both published at ICLR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8D51-4123-F866-CCEB-CF3563CEA1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F4F8C-1785-AC43-97F9-C9301BD933C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7168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A493954E-2D2B-D14C-325C-1F47E8DDD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683A92B1-D96F-9EA0-1C10-53BFE25E8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To address the limitations of diffusion models, the authors propose a few different key components of the model… NEXT SLIDE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A9EEFE8B-25BD-8379-2455-74857DB014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6294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3FCF6136-C657-55C0-B507-51D753E0D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5A0DBB88-6353-AF0F-D3A4-0CF6A025D0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Compared with AE-F8, our AE-F32 outputs16 × fewer latent tokens, which is crucial for efficient training and generating ultra-high-resolution images, such as 4K resolution. The motivation is that high-resolution images naturally contain more redundant information. Moreover, efficient training and inference of high-resolution images (e.g., 4K) necessitate a high compression ratio for the autoencoder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Moreover, instead of increasing the patch size P , we argue that the autoencoders should take </a:t>
            </a:r>
            <a:r>
              <a:rPr lang="en-US" dirty="0" err="1"/>
              <a:t>fullresponsibility</a:t>
            </a:r>
            <a:r>
              <a:rPr lang="en-US" dirty="0"/>
              <a:t> for compression, allowing the latent diffusion models to focus solely on </a:t>
            </a:r>
            <a:r>
              <a:rPr lang="en-US" dirty="0" err="1"/>
              <a:t>denoising.Therefore</a:t>
            </a:r>
            <a:r>
              <a:rPr lang="en-US" dirty="0"/>
              <a:t>, we develop an AE with a down-sampling factor of F = 32, Channel C = 32, and run diffusion models in its latent space with a patch size of 1 (AE-F32C32P1). This design reduces </a:t>
            </a:r>
            <a:r>
              <a:rPr lang="en-US" dirty="0" err="1"/>
              <a:t>thenumber</a:t>
            </a:r>
            <a:r>
              <a:rPr lang="en-US" dirty="0"/>
              <a:t> of tokens by 4×, significantly improving training and inference speed while lowering </a:t>
            </a:r>
            <a:r>
              <a:rPr lang="en-US" dirty="0" err="1"/>
              <a:t>GPUmemory</a:t>
            </a:r>
            <a:r>
              <a:rPr lang="en-US" dirty="0"/>
              <a:t> requirements.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Reconstruction capability of different Autoencoders.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1200" b="1" i="0" u="none" strike="noStrike" cap="none" dirty="0" err="1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rFID</a:t>
            </a:r>
            <a:r>
              <a:rPr lang="fr-FR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 (Relative Fréchet Inception Distance); </a:t>
            </a:r>
            <a:r>
              <a:rPr lang="en-US" sz="1200" b="1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PSNR (Peak Signal-to-Noise Ratio; SSIM (Structural Similarity Index Measure); LPIPS (Learned Perceptual Image Patch Similarity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55C30F0D-5319-2675-3AB4-6F8C2B6156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6289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F5CAC9FB-4113-D877-7948-C04721550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4F38D062-00C7-589D-7778-D9DA79C267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To address this issue, we </a:t>
            </a:r>
            <a:r>
              <a:rPr lang="en-US" dirty="0" err="1"/>
              <a:t>firstproposed</a:t>
            </a:r>
            <a:r>
              <a:rPr lang="en-US" dirty="0"/>
              <a:t> linear </a:t>
            </a:r>
            <a:r>
              <a:rPr lang="en-US" dirty="0" err="1"/>
              <a:t>DiT</a:t>
            </a:r>
            <a:r>
              <a:rPr lang="en-US" dirty="0"/>
              <a:t>, which completely </a:t>
            </a:r>
            <a:r>
              <a:rPr lang="en-US" dirty="0" err="1"/>
              <a:t>replacesthe</a:t>
            </a:r>
            <a:r>
              <a:rPr lang="en-US" dirty="0"/>
              <a:t> original self-attention with linear </a:t>
            </a:r>
            <a:r>
              <a:rPr lang="en-US" dirty="0" err="1"/>
              <a:t>attention,achieving</a:t>
            </a:r>
            <a:r>
              <a:rPr lang="en-US" dirty="0"/>
              <a:t> higher computational efficiency </a:t>
            </a:r>
            <a:r>
              <a:rPr lang="en-US" dirty="0" err="1"/>
              <a:t>inhigh</a:t>
            </a:r>
            <a:r>
              <a:rPr lang="en-US" dirty="0"/>
              <a:t>-resolution generation without compromising performance. In addition, we employ </a:t>
            </a:r>
            <a:r>
              <a:rPr lang="en-US" dirty="0" err="1"/>
              <a:t>MixFFN</a:t>
            </a:r>
            <a:r>
              <a:rPr lang="en-US" dirty="0"/>
              <a:t> to replace the original MLP-FFN, incorporating 3×3 depth-wise convolution to </a:t>
            </a:r>
            <a:r>
              <a:rPr lang="en-US" dirty="0" err="1"/>
              <a:t>betteraggregate</a:t>
            </a:r>
            <a:r>
              <a:rPr lang="en-US" dirty="0"/>
              <a:t> token information.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Feed forward network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0E7AD40A-451C-F72B-77F1-9A777C708DF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7801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29503CF3-5606-F1D8-B912-25979F6E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7EBF82B2-F500-582B-F66E-60A8ED79C3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Overview of Sana: Fig. (a) describes the high-level training pipeline, containing our 32×deep compression Autoencoder, Linear </a:t>
            </a:r>
            <a:r>
              <a:rPr lang="en-US" dirty="0" err="1"/>
              <a:t>DiT</a:t>
            </a:r>
            <a:r>
              <a:rPr lang="en-US" dirty="0"/>
              <a:t>, and complex human instruction. Note that Positional embedding is not required in our framework. Fig. (b) describes the detailed design of the LinearAttention and Mix-FFN in Linear </a:t>
            </a:r>
            <a:r>
              <a:rPr lang="en-US" dirty="0" err="1"/>
              <a:t>DiT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6AB49C9F-D764-59C1-0719-AB055ABF9D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8867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40F90D16-ED6D-C8B9-B6F8-60A64EC7F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70BF6F61-7828-BBCC-0318-93F22A4C62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Comprehensive comparison of our method with SOTA approaches in efficiency and performance. The speed is tested on one A100 GPU with FP16 Precision. Throughput: Measured with batch=16. Latency: Measured with batch=1 and sampling step=20. We highlight the </a:t>
            </a:r>
            <a:r>
              <a:rPr lang="en-US" dirty="0" err="1"/>
              <a:t>best,second</a:t>
            </a:r>
            <a:r>
              <a:rPr lang="en-US" dirty="0"/>
              <a:t> best, and third best entries.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CD8BAC91-37E2-EB24-780A-B1E61C20E1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7736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A2E734AA-83C3-1A29-C0C2-E9524FB5F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057F22C2-F4B1-9ABF-B4F1-14700F9B44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Performance of Sana block design space. The speed is tested on one A100 GPU withFP16 Precision with 1024 image size. MACs: Multi-accumulate operations for a single </a:t>
            </a:r>
            <a:r>
              <a:rPr lang="en-US" dirty="0" err="1"/>
              <a:t>forwardpass</a:t>
            </a:r>
            <a:r>
              <a:rPr lang="en-US" dirty="0"/>
              <a:t>. TP (Throughput): Measured with batch=16. Latency: Measured with batch=1.</a:t>
            </a: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B9A37067-3A5F-3F33-2D33-58EC49458C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398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774DF-B281-DA6E-DF55-AA9DABDF9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3C1B84-4629-36AF-1322-DC3634BE96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C08F6D-F78A-33EF-FE7E-080DDA088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be presenting two papers today, both published at ICLR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2F638-0F4C-1919-6D73-7A0194E83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1F4F8C-1785-AC43-97F9-C9301BD933C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77241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>
          <a:extLst>
            <a:ext uri="{FF2B5EF4-FFF2-40B4-BE49-F238E27FC236}">
              <a16:creationId xmlns:a16="http://schemas.microsoft.com/office/drawing/2014/main" id="{692374CB-50B1-2356-0B43-640C2CC91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2:notes">
            <a:extLst>
              <a:ext uri="{FF2B5EF4-FFF2-40B4-BE49-F238E27FC236}">
                <a16:creationId xmlns:a16="http://schemas.microsoft.com/office/drawing/2014/main" id="{C17CBC2E-0A97-6E84-4F33-EFFD839CA7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HARTachieves</a:t>
            </a:r>
            <a:r>
              <a:rPr lang="en-US" dirty="0"/>
              <a:t> quality comparable to diffusion models while being 3.1-5.9× faster and offering 4.5-7.7×higher throughput. Our key insight lies in the decomposition of continuous image latents </a:t>
            </a:r>
            <a:r>
              <a:rPr lang="en-US" dirty="0" err="1"/>
              <a:t>throughhybrid</a:t>
            </a:r>
            <a:r>
              <a:rPr lang="en-US" dirty="0"/>
              <a:t> tokenization, producing discrete tokens that capture the overall structure and residual </a:t>
            </a:r>
            <a:r>
              <a:rPr lang="en-US" dirty="0" err="1"/>
              <a:t>tokensthat</a:t>
            </a:r>
            <a:r>
              <a:rPr lang="en-US" dirty="0"/>
              <a:t> refine image details. We model the discrete tokens using a scalable-resolution AR transformer, while a lightweight residual diffusion module with just 37M parameters and 8 sampling steps </a:t>
            </a:r>
            <a:r>
              <a:rPr lang="en-US" dirty="0" err="1"/>
              <a:t>learnsthe</a:t>
            </a:r>
            <a:r>
              <a:rPr lang="en-US" dirty="0"/>
              <a:t> residual tokens.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e propose a deep compression autoencoder, widely use linear attention to replace self-attention in </a:t>
            </a:r>
            <a:r>
              <a:rPr lang="en-US" dirty="0" err="1"/>
              <a:t>DiT</a:t>
            </a:r>
            <a:r>
              <a:rPr lang="en-US" dirty="0"/>
              <a:t>, utilize decoder-only LLM as text encoder with complex </a:t>
            </a:r>
            <a:r>
              <a:rPr lang="en-US" dirty="0" err="1"/>
              <a:t>humaninstruction</a:t>
            </a:r>
            <a:r>
              <a:rPr lang="en-US" dirty="0"/>
              <a:t>, establish an automatic image caption pipeline, and propose flow-based DPM-Solver </a:t>
            </a:r>
            <a:r>
              <a:rPr lang="en-US" dirty="0" err="1"/>
              <a:t>toaccelerate</a:t>
            </a:r>
            <a:r>
              <a:rPr lang="en-US" dirty="0"/>
              <a:t> sampling. Sana can generate images at a maximum resolution of 4096×4096, </a:t>
            </a:r>
            <a:r>
              <a:rPr lang="en-US" dirty="0" err="1"/>
              <a:t>deliveringthroughput</a:t>
            </a:r>
            <a:r>
              <a:rPr lang="en-US" dirty="0"/>
              <a:t> more than 100× higher than the SOTA methods while maintaining competitive generation results.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4" name="Google Shape;84;p2:notes">
            <a:extLst>
              <a:ext uri="{FF2B5EF4-FFF2-40B4-BE49-F238E27FC236}">
                <a16:creationId xmlns:a16="http://schemas.microsoft.com/office/drawing/2014/main" id="{BA7B1A50-F1FB-E075-A885-F0EBF7ACE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00653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4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8.emf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0"/>
          <p:cNvSpPr/>
          <p:nvPr/>
        </p:nvSpPr>
        <p:spPr>
          <a:xfrm>
            <a:off x="619760" y="550743"/>
            <a:ext cx="690880" cy="8126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8;p10" descr="A logo of a college&#10;&#10;Description automatically generated">
            <a:extLst>
              <a:ext uri="{FF2B5EF4-FFF2-40B4-BE49-F238E27FC236}">
                <a16:creationId xmlns:a16="http://schemas.microsoft.com/office/drawing/2014/main" id="{CF5BB280-E53C-D1E4-B830-F4E91DDDF9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0820972" y="513473"/>
            <a:ext cx="1076389" cy="10763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2;p3">
            <a:extLst>
              <a:ext uri="{FF2B5EF4-FFF2-40B4-BE49-F238E27FC236}">
                <a16:creationId xmlns:a16="http://schemas.microsoft.com/office/drawing/2014/main" id="{1790EC00-2690-1577-1597-5E973032B908}"/>
              </a:ext>
            </a:extLst>
          </p:cNvPr>
          <p:cNvSpPr txBox="1"/>
          <p:nvPr userDrawn="1"/>
        </p:nvSpPr>
        <p:spPr>
          <a:xfrm>
            <a:off x="2747999" y="3229066"/>
            <a:ext cx="6696001" cy="790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swa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Narrow" panose="020B0604020202020204" pitchFamily="34" charset="0"/>
                <a:ea typeface="Oswald"/>
                <a:cs typeface="Arial Narrow" panose="020B0604020202020204" pitchFamily="34" charset="0"/>
                <a:sym typeface="Oswald"/>
              </a:rPr>
              <a:t>THANK YOU</a:t>
            </a:r>
            <a:endParaRPr lang="en-US" b="1" i="1" dirty="0">
              <a:solidFill>
                <a:schemeClr val="tx1"/>
              </a:solidFill>
              <a:latin typeface="Arial Narrow" panose="020B0604020202020204" pitchFamily="34" charset="0"/>
              <a:cs typeface="Arial Narrow" panose="020B0604020202020204" pitchFamily="34" charset="0"/>
            </a:endParaRPr>
          </a:p>
        </p:txBody>
      </p:sp>
      <p:pic>
        <p:nvPicPr>
          <p:cNvPr id="4" name="Google Shape;28;p10" descr="A logo of a college&#10;&#10;Description automatically generated">
            <a:extLst>
              <a:ext uri="{FF2B5EF4-FFF2-40B4-BE49-F238E27FC236}">
                <a16:creationId xmlns:a16="http://schemas.microsoft.com/office/drawing/2014/main" id="{37259618-2999-DE0D-356E-511FB3F08C22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5557804" y="2058194"/>
            <a:ext cx="1076389" cy="10763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>
                <a:solidFill>
                  <a:schemeClr val="tx1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6B6B6"/>
              </a:buClr>
              <a:buSzPts val="2400"/>
              <a:buNone/>
              <a:defRPr sz="2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 dirty="0"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6B6B6"/>
              </a:buClr>
              <a:buSzPts val="1800"/>
              <a:buChar char="•"/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6B6B6"/>
              </a:buClr>
              <a:buSzPts val="2400"/>
              <a:buNone/>
              <a:defRPr sz="24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6B6B6"/>
              </a:buClr>
              <a:buSzPts val="1800"/>
              <a:buChar char="•"/>
              <a:defRPr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ademicBdlg.jpg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4459" y="207095"/>
            <a:ext cx="11663082" cy="64536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693989"/>
            <a:ext cx="10363200" cy="1470025"/>
          </a:xfrm>
        </p:spPr>
        <p:txBody>
          <a:bodyPr>
            <a:noAutofit/>
          </a:bodyPr>
          <a:lstStyle>
            <a:lvl1pPr>
              <a:defRPr sz="5400" b="1" i="1" spc="0">
                <a:solidFill>
                  <a:schemeClr val="bg1"/>
                </a:solidFill>
                <a:latin typeface="Arial Black" panose="020B0604020202020204" pitchFamily="34" charset="0"/>
                <a:ea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828800" y="4235390"/>
            <a:ext cx="8534400" cy="1189892"/>
          </a:xfrm>
        </p:spPr>
        <p:txBody>
          <a:bodyPr>
            <a:normAutofit/>
          </a:bodyPr>
          <a:lstStyle>
            <a:lvl1pPr marL="0" indent="0" algn="ctr">
              <a:buNone/>
              <a:defRPr sz="2400" b="1" i="0" spc="300">
                <a:solidFill>
                  <a:schemeClr val="bg1"/>
                </a:solidFill>
                <a:latin typeface="Arial Black" panose="020B0604020202020204" pitchFamily="34" charset="0"/>
                <a:ea typeface="Arial Black" panose="020B0604020202020204" pitchFamily="34" charset="0"/>
                <a:cs typeface="Arial Black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29C16-EAA5-26FC-F00D-7F8EC0CCC5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4929" y="1017297"/>
            <a:ext cx="1462142" cy="11112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BF8071-B6F2-ADC6-C49C-1BE304384F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5400000" flipV="1">
            <a:off x="-2967296" y="3299573"/>
            <a:ext cx="6463510" cy="2588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0C7E7D-86D8-A7B1-FD2F-C4958180D6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5400000" flipV="1">
            <a:off x="8695786" y="3289723"/>
            <a:ext cx="6463510" cy="25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831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cademicBdlg.jpg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4459" y="207095"/>
            <a:ext cx="11663082" cy="645366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693989"/>
            <a:ext cx="10363200" cy="1470025"/>
          </a:xfrm>
        </p:spPr>
        <p:txBody>
          <a:bodyPr>
            <a:noAutofit/>
          </a:bodyPr>
          <a:lstStyle>
            <a:lvl1pPr>
              <a:defRPr sz="5400" b="1" i="1" spc="0">
                <a:solidFill>
                  <a:schemeClr val="bg1"/>
                </a:solidFill>
                <a:latin typeface="Arial Black" panose="020B0604020202020204" pitchFamily="34" charset="0"/>
                <a:ea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828800" y="4235390"/>
            <a:ext cx="8534400" cy="1189892"/>
          </a:xfrm>
        </p:spPr>
        <p:txBody>
          <a:bodyPr>
            <a:normAutofit/>
          </a:bodyPr>
          <a:lstStyle>
            <a:lvl1pPr marL="0" indent="0" algn="ctr">
              <a:buNone/>
              <a:defRPr sz="2400" b="1" i="0" spc="300">
                <a:solidFill>
                  <a:schemeClr val="bg1"/>
                </a:solidFill>
                <a:latin typeface="Arial Black" panose="020B0604020202020204" pitchFamily="34" charset="0"/>
                <a:ea typeface="Arial Black" panose="020B0604020202020204" pitchFamily="34" charset="0"/>
                <a:cs typeface="Arial Black" panose="020B0604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</a:t>
            </a:r>
          </a:p>
          <a:p>
            <a:r>
              <a:rPr lang="en-US" dirty="0"/>
              <a:t>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A29C16-EAA5-26FC-F00D-7F8EC0CCC5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4929" y="1017297"/>
            <a:ext cx="1462142" cy="11112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BF8071-B6F2-ADC6-C49C-1BE304384F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5400000" flipV="1">
            <a:off x="-2967296" y="3299573"/>
            <a:ext cx="6463510" cy="2588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0C7E7D-86D8-A7B1-FD2F-C4958180D6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 rot="5400000" flipV="1">
            <a:off x="8695786" y="3289723"/>
            <a:ext cx="6463510" cy="258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76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5485" y="245097"/>
            <a:ext cx="6800915" cy="923827"/>
          </a:xfrm>
        </p:spPr>
        <p:txBody>
          <a:bodyPr>
            <a:noAutofit/>
          </a:bodyPr>
          <a:lstStyle>
            <a:lvl1pPr algn="l">
              <a:defRPr sz="2800" b="1" i="1">
                <a:solidFill>
                  <a:schemeClr val="bg1"/>
                </a:solidFill>
                <a:latin typeface="Arial Black" panose="020B0604020202020204" pitchFamily="34" charset="0"/>
                <a:ea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78844"/>
            <a:ext cx="10972799" cy="4647321"/>
          </a:xfrm>
        </p:spPr>
        <p:txBody>
          <a:bodyPr/>
          <a:lstStyle>
            <a:lvl1pPr marL="0" indent="0">
              <a:buNone/>
              <a:defRPr>
                <a:solidFill>
                  <a:srgbClr val="500000"/>
                </a:solidFill>
                <a:latin typeface="Arial" charset="0"/>
                <a:ea typeface="Arial" charset="0"/>
                <a:cs typeface="Arial" charset="0"/>
              </a:defRPr>
            </a:lvl1pPr>
            <a:lvl2pPr marL="457200" indent="0">
              <a:buNone/>
              <a:defRPr>
                <a:solidFill>
                  <a:srgbClr val="500000"/>
                </a:solidFill>
                <a:latin typeface="Arial" charset="0"/>
                <a:ea typeface="Arial" charset="0"/>
                <a:cs typeface="Arial" charset="0"/>
              </a:defRPr>
            </a:lvl2pPr>
            <a:lvl3pPr marL="914400" indent="0">
              <a:buNone/>
              <a:defRPr>
                <a:solidFill>
                  <a:srgbClr val="500000"/>
                </a:solidFill>
                <a:latin typeface="Arial" charset="0"/>
                <a:ea typeface="Arial" charset="0"/>
                <a:cs typeface="Arial" charset="0"/>
              </a:defRPr>
            </a:lvl3pPr>
            <a:lvl4pPr marL="1371600" indent="0">
              <a:buNone/>
              <a:defRPr>
                <a:solidFill>
                  <a:srgbClr val="500000"/>
                </a:solidFill>
                <a:latin typeface="Arial" charset="0"/>
                <a:ea typeface="Arial" charset="0"/>
                <a:cs typeface="Arial" charset="0"/>
              </a:defRPr>
            </a:lvl4pPr>
            <a:lvl5pPr marL="1828800" indent="0">
              <a:buNone/>
              <a:defRPr>
                <a:solidFill>
                  <a:srgbClr val="500000"/>
                </a:solidFill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957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4406902"/>
            <a:ext cx="10363200" cy="1362075"/>
          </a:xfrm>
        </p:spPr>
        <p:txBody>
          <a:bodyPr anchor="t">
            <a:normAutofit/>
          </a:bodyPr>
          <a:lstStyle>
            <a:lvl1pPr algn="l">
              <a:defRPr sz="3600" b="1" i="1" cap="none"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3E3E3E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051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294022"/>
            <a:ext cx="5384800" cy="383214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2294022"/>
            <a:ext cx="5384800" cy="383214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F9292DD-02A7-3919-DDAF-09FFBBBF4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282318"/>
            <a:ext cx="10972800" cy="89364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56740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282318"/>
            <a:ext cx="10972800" cy="893646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2307098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946861"/>
            <a:ext cx="5386917" cy="3179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8" y="2307098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8" y="2946861"/>
            <a:ext cx="5389033" cy="3179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670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PSCwall.psd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59938" y="208038"/>
            <a:ext cx="11672125" cy="6441925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1060470" y="2093434"/>
            <a:ext cx="10071060" cy="2671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616" y="2970314"/>
            <a:ext cx="9192768" cy="1143000"/>
          </a:xfrm>
        </p:spPr>
        <p:txBody>
          <a:bodyPr>
            <a:normAutofit/>
          </a:bodyPr>
          <a:lstStyle>
            <a:lvl1pPr>
              <a:defRPr sz="3400" b="1" i="1">
                <a:solidFill>
                  <a:srgbClr val="500000"/>
                </a:solidFill>
                <a:latin typeface="Arial Narrow" panose="020B0604020202020204" pitchFamily="34" charset="0"/>
                <a:ea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321C72-20D3-3F48-DE78-93282C42CD7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5400000" flipV="1">
            <a:off x="-2967296" y="3299573"/>
            <a:ext cx="6463510" cy="25885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27AEE4-929C-D189-5DD7-46F12F26E53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 rot="5400000" flipV="1">
            <a:off x="8695786" y="3289723"/>
            <a:ext cx="6463510" cy="2588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37E76E-EE67-D306-ED2B-9D543E22411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641830" y="1661939"/>
            <a:ext cx="908339" cy="918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370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6957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11" y="1285460"/>
            <a:ext cx="4011084" cy="104766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1285461"/>
            <a:ext cx="6815667" cy="484070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11" y="2492188"/>
            <a:ext cx="4011084" cy="363398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1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2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311965"/>
            <a:ext cx="7315200" cy="341561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43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4CE51-D15A-BB47-9138-751D578D2580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8FB8FF-E84C-EC49-87A9-5C830135652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75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6.emf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image" Target="../media/image5.png"/><Relationship Id="rId5" Type="http://schemas.openxmlformats.org/officeDocument/2006/relationships/slideLayout" Target="../slideLayouts/slideLayout9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"/>
          <p:cNvSpPr/>
          <p:nvPr userDrawn="1"/>
        </p:nvSpPr>
        <p:spPr>
          <a:xfrm>
            <a:off x="-3" y="4246"/>
            <a:ext cx="12191999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8"/>
          <p:cNvSpPr/>
          <p:nvPr/>
        </p:nvSpPr>
        <p:spPr>
          <a:xfrm>
            <a:off x="0" y="6190487"/>
            <a:ext cx="2919983" cy="671759"/>
          </a:xfrm>
          <a:prstGeom prst="rtTriangl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2;p8"/>
          <p:cNvSpPr/>
          <p:nvPr/>
        </p:nvSpPr>
        <p:spPr>
          <a:xfrm rot="10800000">
            <a:off x="9272016" y="-3417"/>
            <a:ext cx="2919983" cy="671759"/>
          </a:xfrm>
          <a:prstGeom prst="rtTriangl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 ExtraBold"/>
              <a:buNone/>
              <a:defRPr sz="4400" b="1" i="0" u="none" strike="noStrike" cap="none">
                <a:solidFill>
                  <a:schemeClr val="lt1"/>
                </a:solidFill>
                <a:latin typeface="Open Sans Extrabold"/>
                <a:ea typeface="Open Sans Extrabold"/>
                <a:cs typeface="Open Sans Extrabold"/>
                <a:sym typeface="Open Sans Extra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4" name="Google Shape;14;p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6B6B6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B6B6B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  <p:sldLayoutId id="2147483656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1" i="0" u="none" strike="noStrike" cap="none">
          <a:solidFill>
            <a:schemeClr val="tx1"/>
          </a:solidFill>
          <a:latin typeface="Arial Black" panose="020B0604020202020204" pitchFamily="34" charset="0"/>
          <a:ea typeface="Arial Black" panose="020B0604020202020204" pitchFamily="34" charset="0"/>
          <a:cs typeface="Arial Black" panose="020B060402020202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1196535"/>
            <a:ext cx="10972800" cy="9262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2253006"/>
            <a:ext cx="10972800" cy="38731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5C4CE51-D15A-BB47-9138-751D578D2580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88FB8FF-E84C-EC49-87A9-5C83013565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4459" y="213662"/>
            <a:ext cx="11663082" cy="926298"/>
          </a:xfrm>
          <a:prstGeom prst="rect">
            <a:avLst/>
          </a:prstGeom>
          <a:ln>
            <a:noFill/>
          </a:ln>
          <a:effectLst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67DD9AB-EF41-CE9F-D3EB-9408AAD3CA8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0335" y="701811"/>
            <a:ext cx="113192" cy="5206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78E8D7-5CC6-0657-05BE-AA8775067F8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0335" y="152520"/>
            <a:ext cx="113192" cy="520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315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</p:sldLayoutIdLst>
  <p:txStyles>
    <p:titleStyle>
      <a:lvl1pPr algn="ctr" defTabSz="457200" rtl="0" eaLnBrk="1" latinLnBrk="0" hangingPunct="1">
        <a:spcBef>
          <a:spcPct val="0"/>
        </a:spcBef>
        <a:buNone/>
        <a:defRPr sz="4400" b="1" i="1" kern="1200">
          <a:solidFill>
            <a:srgbClr val="500000"/>
          </a:solidFill>
          <a:latin typeface="Arial Black" panose="020B0604020202020204" pitchFamily="34" charset="0"/>
          <a:ea typeface="Open Sans" panose="020B0606030504020204" pitchFamily="34" charset="0"/>
          <a:cs typeface="Arial Black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rgbClr val="5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rgbClr val="5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rgbClr val="5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rgbClr val="5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rgbClr val="500000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3008726"/>
            <a:ext cx="10363200" cy="840547"/>
          </a:xfrm>
        </p:spPr>
        <p:txBody>
          <a:bodyPr/>
          <a:lstStyle/>
          <a:p>
            <a:pPr algn="ctr"/>
            <a:r>
              <a:rPr lang="en-US" dirty="0"/>
              <a:t>HART &amp; SANA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4231932"/>
            <a:ext cx="8534400" cy="118989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Paper Presentation</a:t>
            </a:r>
          </a:p>
          <a:p>
            <a:r>
              <a:rPr lang="en-US" dirty="0"/>
              <a:t>ECEN-689 | Spring 2026</a:t>
            </a:r>
          </a:p>
          <a:p>
            <a:r>
              <a:rPr lang="en-US" dirty="0"/>
              <a:t>Brody Jordan</a:t>
            </a:r>
          </a:p>
        </p:txBody>
      </p:sp>
    </p:spTree>
    <p:extLst>
      <p:ext uri="{BB962C8B-B14F-4D97-AF65-F5344CB8AC3E}">
        <p14:creationId xmlns:p14="http://schemas.microsoft.com/office/powerpoint/2010/main" val="1354695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/>
          <p:cNvSpPr txBox="1"/>
          <p:nvPr/>
        </p:nvSpPr>
        <p:spPr>
          <a:xfrm>
            <a:off x="838200" y="2643966"/>
            <a:ext cx="10515600" cy="341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In text-to-image synthesis, there are two dominant models: autoregressive and diffusion, each with their own pros and cons</a:t>
            </a:r>
            <a:endParaRPr lang="en-US" sz="1800" b="1" dirty="0">
              <a:solidFill>
                <a:schemeClr val="tx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Calibri"/>
            </a:endParaRPr>
          </a:p>
          <a:p>
            <a:pPr marL="228600" lvl="0" indent="-228600">
              <a:lnSpc>
                <a:spcPct val="130909"/>
              </a:lnSpc>
              <a:buClr>
                <a:schemeClr val="accent2"/>
              </a:buClr>
              <a:buSzPts val="2200"/>
              <a:buFont typeface="Arial"/>
              <a:buChar char="•"/>
            </a:pPr>
            <a:endParaRPr lang="en-US" sz="1800" b="1" i="0" dirty="0">
              <a:solidFill>
                <a:schemeClr val="tx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  <a:sym typeface="Calibri"/>
            </a:endParaRPr>
          </a:p>
          <a:p>
            <a:pPr marL="228600" lvl="0" indent="-228600">
              <a:lnSpc>
                <a:spcPct val="130909"/>
              </a:lnSpc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1800" b="1" spc="300" dirty="0">
                <a:solidFill>
                  <a:schemeClr val="tx1"/>
                </a:solidFill>
                <a:latin typeface="Arial Black" panose="020B0A04020102020204" pitchFamily="34" charset="0"/>
                <a:ea typeface="Open Sans" panose="020B0606030504020204" pitchFamily="34" charset="0"/>
                <a:cs typeface="Arial" panose="020B0604020202020204" pitchFamily="34" charset="0"/>
                <a:sym typeface="Calibri"/>
              </a:rPr>
              <a:t>HART &amp; SANA </a:t>
            </a:r>
            <a: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Calibri"/>
              </a:rPr>
              <a:t>both released in 2024 (MIT &amp; NVIDIA), aim to improve both models, with HART targeting autoregression and SANA targeting diffusion</a:t>
            </a:r>
            <a:endParaRPr sz="1800" b="1" i="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 txBox="1"/>
          <p:nvPr/>
        </p:nvSpPr>
        <p:spPr>
          <a:xfrm>
            <a:off x="492760" y="554989"/>
            <a:ext cx="6579259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Image Synthesis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0DA08-0BC1-5FFE-742D-60698DB80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6C102-1B3D-6055-F2FF-B0FD860573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3411415"/>
            <a:ext cx="10363200" cy="840547"/>
          </a:xfrm>
        </p:spPr>
        <p:txBody>
          <a:bodyPr/>
          <a:lstStyle/>
          <a:p>
            <a:r>
              <a:rPr lang="en-US" dirty="0"/>
              <a:t>HART</a:t>
            </a:r>
            <a:br>
              <a:rPr lang="en-US" dirty="0"/>
            </a:br>
            <a:r>
              <a:rPr lang="en-US" sz="1800" dirty="0"/>
              <a:t>EFFICIENT VISUAL GENERATION WITH HYBRID </a:t>
            </a:r>
            <a:br>
              <a:rPr lang="en-US" sz="1800" dirty="0"/>
            </a:br>
            <a:r>
              <a:rPr lang="en-US" sz="1800" dirty="0"/>
              <a:t>AUTOREGRESSIVE TRANSFORMER</a:t>
            </a:r>
          </a:p>
        </p:txBody>
      </p:sp>
    </p:spTree>
    <p:extLst>
      <p:ext uri="{BB962C8B-B14F-4D97-AF65-F5344CB8AC3E}">
        <p14:creationId xmlns:p14="http://schemas.microsoft.com/office/powerpoint/2010/main" val="2310247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C6F49945-E0EA-B161-8592-A343F7579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>
            <a:extLst>
              <a:ext uri="{FF2B5EF4-FFF2-40B4-BE49-F238E27FC236}">
                <a16:creationId xmlns:a16="http://schemas.microsoft.com/office/drawing/2014/main" id="{1C896DA2-919A-E23C-7D6D-B1EA2303CE2D}"/>
              </a:ext>
            </a:extLst>
          </p:cNvPr>
          <p:cNvSpPr txBox="1"/>
          <p:nvPr/>
        </p:nvSpPr>
        <p:spPr>
          <a:xfrm>
            <a:off x="838200" y="2175043"/>
            <a:ext cx="10515600" cy="341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The discrete tokenizers used in autoregressive models lack the fine detail reconstruction capabilities of continuous tokenizers used in diffusion models</a:t>
            </a: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Compared to autoregressive models, diffusion models achieve higher quality outputs at the cost of increased computational requirements</a:t>
            </a:r>
            <a:endParaRPr sz="2000" b="1" dirty="0">
              <a:solidFill>
                <a:schemeClr val="tx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228600" lvl="0" indent="-228600">
              <a:lnSpc>
                <a:spcPct val="130909"/>
              </a:lnSpc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spc="300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lvl="0" indent="-228600">
              <a:lnSpc>
                <a:spcPct val="130909"/>
              </a:lnSpc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spc="300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HART </a:t>
            </a: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seeks to find an autoregressive model that can produce outputs with quality rivaling diffusion models while significantly reducing cost</a:t>
            </a:r>
          </a:p>
          <a:p>
            <a:pPr marL="228600" lvl="0" indent="-228600">
              <a:lnSpc>
                <a:spcPct val="130909"/>
              </a:lnSpc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</p:txBody>
      </p:sp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614AEA35-5E5C-F945-3D0D-46E9CBB9BDC5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HART – Overview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42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C90CAB53-AE97-166E-7329-2EF864731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5319C7A8-B7B1-35A9-E192-BBDF6B48D036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HART – Method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7" name="Google Shape;86;p2">
            <a:extLst>
              <a:ext uri="{FF2B5EF4-FFF2-40B4-BE49-F238E27FC236}">
                <a16:creationId xmlns:a16="http://schemas.microsoft.com/office/drawing/2014/main" id="{D54456B8-D650-FCC0-9F37-4BBBD6191BD2}"/>
              </a:ext>
            </a:extLst>
          </p:cNvPr>
          <p:cNvSpPr txBox="1"/>
          <p:nvPr/>
        </p:nvSpPr>
        <p:spPr>
          <a:xfrm>
            <a:off x="838200" y="2139874"/>
            <a:ext cx="10515600" cy="341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To address these issues, the authors proposed a hybrid tokenizer where the continuous latents are split into a sum of discrete latents and a continuous residual</a:t>
            </a: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Discrete latents: big picture; global structure and layout</a:t>
            </a:r>
          </a:p>
          <a:p>
            <a:pPr marR="0" lvl="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Continuous latents: fine detail; edges, micro-textures</a:t>
            </a:r>
          </a:p>
          <a:p>
            <a:pPr marL="228600" lvl="5" indent="-228600">
              <a:lnSpc>
                <a:spcPct val="130909"/>
              </a:lnSpc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lvl="0" indent="-228600">
              <a:lnSpc>
                <a:spcPct val="130909"/>
              </a:lnSpc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735612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4491C7A2-3433-7296-505A-90674C0F6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14C04C63-21C7-4EDA-1B1C-416AD5E66251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HART – Method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ACDD7D-FC80-7D44-2D14-DAA97AF72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83" y="2710306"/>
            <a:ext cx="9659034" cy="2345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72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D93E835C-EE15-55E6-6BC8-155A4959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78295531-0775-9B23-2DEC-DC909D6E739A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HART – Method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B400B0-91B8-3521-C377-5EB9109D2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997" y="3038265"/>
            <a:ext cx="10074006" cy="1775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577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86E24FCE-E833-2496-ED42-EF5CB180E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2DACE3E5-D328-68E4-2A39-1660D415BD94}"/>
              </a:ext>
            </a:extLst>
          </p:cNvPr>
          <p:cNvSpPr txBox="1"/>
          <p:nvPr/>
        </p:nvSpPr>
        <p:spPr>
          <a:xfrm>
            <a:off x="492759" y="554989"/>
            <a:ext cx="8182317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HART – Experiments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C3D089-EC86-3AE0-C84A-BC30EFF5DC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266" y="2098432"/>
            <a:ext cx="10419468" cy="355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5725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0E835F7A-ADE3-72F2-6A72-CFF84D1B2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00EE24B7-57FA-8CF6-1F97-9181278F69A4}"/>
              </a:ext>
            </a:extLst>
          </p:cNvPr>
          <p:cNvSpPr txBox="1"/>
          <p:nvPr/>
        </p:nvSpPr>
        <p:spPr>
          <a:xfrm>
            <a:off x="492759" y="554989"/>
            <a:ext cx="8182317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HART – Experiments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DD22A8-BB63-02AB-D28A-BC5C24E3FE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86266" y="2419458"/>
            <a:ext cx="10419468" cy="2910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023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A544B-A236-B2FA-AE69-2DD5B9D49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67C7A-6621-2D5E-C2C5-396B5FD59E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3411415"/>
            <a:ext cx="10363200" cy="840547"/>
          </a:xfrm>
        </p:spPr>
        <p:txBody>
          <a:bodyPr/>
          <a:lstStyle/>
          <a:p>
            <a:r>
              <a:rPr lang="en-US" dirty="0"/>
              <a:t>SANA</a:t>
            </a:r>
            <a:br>
              <a:rPr lang="en-US" dirty="0"/>
            </a:br>
            <a:r>
              <a:rPr lang="en-US" sz="1800" dirty="0"/>
              <a:t>EFFICIENT HIGH-RESOLUTION IMAGE SYNTHESIS </a:t>
            </a:r>
            <a:br>
              <a:rPr lang="en-US" sz="1800" dirty="0"/>
            </a:br>
            <a:r>
              <a:rPr lang="en-US" sz="1800" dirty="0"/>
              <a:t>WITH LINEAR DIFFUSION TRANSFORMERS</a:t>
            </a:r>
          </a:p>
        </p:txBody>
      </p:sp>
    </p:spTree>
    <p:extLst>
      <p:ext uri="{BB962C8B-B14F-4D97-AF65-F5344CB8AC3E}">
        <p14:creationId xmlns:p14="http://schemas.microsoft.com/office/powerpoint/2010/main" val="325493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4917C850-C880-C66C-FD55-C122C4311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>
            <a:extLst>
              <a:ext uri="{FF2B5EF4-FFF2-40B4-BE49-F238E27FC236}">
                <a16:creationId xmlns:a16="http://schemas.microsoft.com/office/drawing/2014/main" id="{9505F468-5E9C-9138-02F8-1232C7A76122}"/>
              </a:ext>
            </a:extLst>
          </p:cNvPr>
          <p:cNvSpPr txBox="1"/>
          <p:nvPr/>
        </p:nvSpPr>
        <p:spPr>
          <a:xfrm>
            <a:off x="838200" y="2175043"/>
            <a:ext cx="10515600" cy="341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We know from earlier slides that diffusion models can produce high-quality outputs with fine detail at a greater computational cost than autoregressive models</a:t>
            </a: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Generating high resolution images with diffusion models is </a:t>
            </a:r>
            <a:r>
              <a:rPr lang="en-US" sz="20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extremely</a:t>
            </a: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 costly</a:t>
            </a: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2000" b="1" spc="300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SANA</a:t>
            </a: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 seeks to reduce this cost, allowing fast, high-quality, high-resolution image generation on edge devices</a:t>
            </a: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</p:txBody>
      </p:sp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D40D36BF-C100-EDAB-FF42-F92FE161DFC2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SANA – Overview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84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6F72B402-CC5B-70A1-4C5E-A5D3EB9D2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379B86C-AD74-82AF-214F-29860E605B8B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SANA – Method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7" name="Google Shape;86;p2">
            <a:extLst>
              <a:ext uri="{FF2B5EF4-FFF2-40B4-BE49-F238E27FC236}">
                <a16:creationId xmlns:a16="http://schemas.microsoft.com/office/drawing/2014/main" id="{B44C3C50-8995-2F1D-3B23-D4B84D5046E1}"/>
              </a:ext>
            </a:extLst>
          </p:cNvPr>
          <p:cNvSpPr txBox="1"/>
          <p:nvPr/>
        </p:nvSpPr>
        <p:spPr>
          <a:xfrm>
            <a:off x="838200" y="1802355"/>
            <a:ext cx="10515600" cy="341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R="0" lvl="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</a:pPr>
            <a:r>
              <a:rPr lang="en-US" sz="28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Deep Compression Autoencoder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17B8C-D58D-39D2-4AE6-AC9D617D50BA}"/>
              </a:ext>
            </a:extLst>
          </p:cNvPr>
          <p:cNvSpPr txBox="1"/>
          <p:nvPr/>
        </p:nvSpPr>
        <p:spPr>
          <a:xfrm>
            <a:off x="1371599" y="2907323"/>
            <a:ext cx="941363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Popular Autoencoders used in other models have a spatial compression factor of 8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cs typeface="Arial Black" panose="020B0604020202020204" pitchFamily="34" charset="0"/>
              <a:sym typeface="Open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The SANA authors propose a new Autoencoder that raises the compression factor to 32, significantly reducing the latent tokens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844809-4804-8336-0704-01505D828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8032" y="5125342"/>
            <a:ext cx="5924922" cy="133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278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F965D74B-918A-8B34-69E9-DFBB9C747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CC1978BE-056B-F920-AB6F-78292817FADA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SANA – Method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7" name="Google Shape;86;p2">
            <a:extLst>
              <a:ext uri="{FF2B5EF4-FFF2-40B4-BE49-F238E27FC236}">
                <a16:creationId xmlns:a16="http://schemas.microsoft.com/office/drawing/2014/main" id="{36666547-4420-8144-BDCF-1AD97F320582}"/>
              </a:ext>
            </a:extLst>
          </p:cNvPr>
          <p:cNvSpPr txBox="1"/>
          <p:nvPr/>
        </p:nvSpPr>
        <p:spPr>
          <a:xfrm>
            <a:off x="838200" y="1802355"/>
            <a:ext cx="10515600" cy="341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R="0" lvl="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</a:pPr>
            <a:r>
              <a:rPr lang="en-US" sz="28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Efficient Linear </a:t>
            </a:r>
            <a:r>
              <a:rPr lang="en-US" sz="2800" b="1" dirty="0" err="1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DiT</a:t>
            </a:r>
            <a:r>
              <a:rPr lang="en-US" sz="28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cs typeface="Arial Black" panose="020B0604020202020204" pitchFamily="34" charset="0"/>
                <a:sym typeface="Open Sans"/>
              </a:rPr>
              <a:t> &amp; Mix-FFN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6BF138-4BB5-0CF0-D4E8-710F0CBC1393}"/>
              </a:ext>
            </a:extLst>
          </p:cNvPr>
          <p:cNvSpPr txBox="1"/>
          <p:nvPr/>
        </p:nvSpPr>
        <p:spPr>
          <a:xfrm>
            <a:off x="1371599" y="2907323"/>
            <a:ext cx="941363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sym typeface="Open Sans"/>
              </a:rPr>
              <a:t>Standard </a:t>
            </a:r>
            <a:r>
              <a:rPr lang="en-US" sz="2000" b="1" dirty="0" err="1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sym typeface="Open Sans"/>
              </a:rPr>
              <a:t>DiT</a:t>
            </a: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sym typeface="Open Sans"/>
              </a:rPr>
              <a:t> self-attention has computational complexity O(N^2)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sym typeface="Open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sym typeface="Open Sans"/>
              </a:rPr>
              <a:t>The authors propose a linear </a:t>
            </a:r>
            <a:r>
              <a:rPr lang="en-US" sz="2000" b="1" dirty="0" err="1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sym typeface="Open Sans"/>
              </a:rPr>
              <a:t>DiT</a:t>
            </a: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sym typeface="Open Sans"/>
              </a:rPr>
              <a:t> which lowers this computational complexity to O(N)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sym typeface="Open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 Black" panose="020B0604020202020204" pitchFamily="34" charset="0"/>
                <a:ea typeface="Open Sans"/>
                <a:sym typeface="Open Sans"/>
              </a:rPr>
              <a:t>Mix-FFN integrates 3×3 depth-wise convolution into MLP to aggregate the local information of tokens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>
              <a:solidFill>
                <a:schemeClr val="tx1"/>
              </a:solidFill>
              <a:latin typeface="Arial Black" panose="020B0604020202020204" pitchFamily="34" charset="0"/>
              <a:ea typeface="Open Sans"/>
              <a:sym typeface="Open Sans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076301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60707F22-C3AA-2251-55AC-DBC9799DD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E5278A97-C856-5F3D-0585-783B9D45FBCA}"/>
              </a:ext>
            </a:extLst>
          </p:cNvPr>
          <p:cNvSpPr txBox="1"/>
          <p:nvPr/>
        </p:nvSpPr>
        <p:spPr>
          <a:xfrm>
            <a:off x="492760" y="554989"/>
            <a:ext cx="7818902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SANA – Method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6C01E-869C-7A03-E93C-08D5C77F9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260" y="1957756"/>
            <a:ext cx="9867480" cy="413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16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676A7C08-98AF-9B83-36E1-9A1DF2FAB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B75D645F-0CAC-D7F9-8C9E-C3033B738E9A}"/>
              </a:ext>
            </a:extLst>
          </p:cNvPr>
          <p:cNvSpPr txBox="1"/>
          <p:nvPr/>
        </p:nvSpPr>
        <p:spPr>
          <a:xfrm>
            <a:off x="492759" y="554989"/>
            <a:ext cx="8182317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SANA – Experiments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DE085B-2B4F-C06F-125A-C0765623EF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0967" y="1802355"/>
            <a:ext cx="9470066" cy="441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7513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AEB8BD97-A24C-455A-4238-274FC888E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74F65003-EA4C-75D5-4225-7322B733192A}"/>
              </a:ext>
            </a:extLst>
          </p:cNvPr>
          <p:cNvSpPr txBox="1"/>
          <p:nvPr/>
        </p:nvSpPr>
        <p:spPr>
          <a:xfrm>
            <a:off x="492759" y="554989"/>
            <a:ext cx="8182317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SANA – Experiments 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9CE663-6F9B-70B9-F85B-0E5A360BE5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5323" y="2656026"/>
            <a:ext cx="7901354" cy="239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90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42CC8-E6D8-836C-6795-27FDBF74B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C3D4-B3C1-439C-E176-3DD426FF2A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3411415"/>
            <a:ext cx="10363200" cy="840547"/>
          </a:xfrm>
        </p:spPr>
        <p:txBody>
          <a:bodyPr/>
          <a:lstStyle/>
          <a:p>
            <a:pPr algn="ctr"/>
            <a:r>
              <a:rPr lang="en-US" dirty="0"/>
              <a:t>RECAP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6511032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>
          <a:extLst>
            <a:ext uri="{FF2B5EF4-FFF2-40B4-BE49-F238E27FC236}">
              <a16:creationId xmlns:a16="http://schemas.microsoft.com/office/drawing/2014/main" id="{22347E58-0D33-2D23-8FF7-10F6F5C32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">
            <a:extLst>
              <a:ext uri="{FF2B5EF4-FFF2-40B4-BE49-F238E27FC236}">
                <a16:creationId xmlns:a16="http://schemas.microsoft.com/office/drawing/2014/main" id="{0C910145-CE96-FB35-A783-429224C1B01A}"/>
              </a:ext>
            </a:extLst>
          </p:cNvPr>
          <p:cNvSpPr txBox="1"/>
          <p:nvPr/>
        </p:nvSpPr>
        <p:spPr>
          <a:xfrm>
            <a:off x="838200" y="2280551"/>
            <a:ext cx="10515600" cy="341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Autoregressive models have high throughput, but lack the high visual fidelity capabilities of diffusion models</a:t>
            </a: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1800" b="1" dirty="0">
              <a:solidFill>
                <a:schemeClr val="tx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1800" b="1" spc="300" dirty="0">
                <a:solidFill>
                  <a:schemeClr val="tx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HART </a:t>
            </a:r>
            <a: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improves autoregressive models through hybrid tokenization, allowing for fast image generation with much finer details than before</a:t>
            </a: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endParaRPr lang="en-US" sz="1800" b="1" dirty="0">
              <a:solidFill>
                <a:schemeClr val="tx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228600" marR="0" lvl="0" indent="-228600" algn="l" rtl="0">
              <a:lnSpc>
                <a:spcPct val="130909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200"/>
              <a:buFont typeface="Arial"/>
              <a:buChar char="•"/>
            </a:pPr>
            <a:r>
              <a:rPr lang="en-US" sz="1800" b="1" spc="300" dirty="0">
                <a:solidFill>
                  <a:schemeClr val="tx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SANA</a:t>
            </a:r>
            <a: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improves diffusion models by reducing their large computational cost through a more aggressive spatial compression and a linear </a:t>
            </a:r>
            <a:r>
              <a:rPr lang="en-US" sz="1800" b="1" dirty="0" err="1">
                <a:solidFill>
                  <a:schemeClr val="tx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DiT</a:t>
            </a:r>
            <a:r>
              <a:rPr lang="en-US" sz="1800" b="1" dirty="0">
                <a:solidFill>
                  <a:schemeClr val="tx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, allowing high-quality and high-resolution image generation on edge devices</a:t>
            </a:r>
            <a:endParaRPr sz="1800" b="1" dirty="0">
              <a:solidFill>
                <a:schemeClr val="tx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87" name="Google Shape;87;p2">
            <a:extLst>
              <a:ext uri="{FF2B5EF4-FFF2-40B4-BE49-F238E27FC236}">
                <a16:creationId xmlns:a16="http://schemas.microsoft.com/office/drawing/2014/main" id="{274FD8FD-8D70-24F6-8CB3-0B6F745BA96E}"/>
              </a:ext>
            </a:extLst>
          </p:cNvPr>
          <p:cNvSpPr txBox="1"/>
          <p:nvPr/>
        </p:nvSpPr>
        <p:spPr>
          <a:xfrm>
            <a:off x="492759" y="554989"/>
            <a:ext cx="8182317" cy="1247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Open Sans ExtraBold"/>
              <a:buNone/>
            </a:pPr>
            <a:r>
              <a:rPr lang="en-US" sz="5400" b="1" i="1" dirty="0">
                <a:solidFill>
                  <a:schemeClr val="tx1"/>
                </a:solidFill>
                <a:latin typeface="Arial Black" panose="020B0604020202020204" pitchFamily="34" charset="0"/>
                <a:ea typeface="Open Sans ExtraBold"/>
                <a:cs typeface="Arial Black" panose="020B0604020202020204" pitchFamily="34" charset="0"/>
                <a:sym typeface="Open Sans ExtraBold"/>
              </a:rPr>
              <a:t>Recap</a:t>
            </a:r>
            <a:endParaRPr b="1" i="1" dirty="0">
              <a:solidFill>
                <a:schemeClr val="tx1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06341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"/>
          <p:cNvSpPr txBox="1"/>
          <p:nvPr/>
        </p:nvSpPr>
        <p:spPr>
          <a:xfrm>
            <a:off x="2287784" y="4026536"/>
            <a:ext cx="7616421" cy="790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en-US" sz="2400" b="1" i="1" dirty="0">
                <a:solidFill>
                  <a:schemeClr val="tx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  <a:sym typeface="Calibri"/>
              </a:rPr>
              <a:t>Questions?</a:t>
            </a:r>
            <a:endParaRPr sz="2400" b="1" i="1" dirty="0">
              <a:solidFill>
                <a:schemeClr val="tx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AMU - Grey">
      <a:dk1>
        <a:srgbClr val="500000"/>
      </a:dk1>
      <a:lt1>
        <a:srgbClr val="FFFFFF"/>
      </a:lt1>
      <a:dk2>
        <a:srgbClr val="3C001C"/>
      </a:dk2>
      <a:lt2>
        <a:srgbClr val="FAF7F3"/>
      </a:lt2>
      <a:accent1>
        <a:srgbClr val="3C041C"/>
      </a:accent1>
      <a:accent2>
        <a:srgbClr val="B6B6B6"/>
      </a:accent2>
      <a:accent3>
        <a:srgbClr val="FFFFFF"/>
      </a:accent3>
      <a:accent4>
        <a:srgbClr val="CCDCEA"/>
      </a:accent4>
      <a:accent5>
        <a:srgbClr val="D6D3C3"/>
      </a:accent5>
      <a:accent6>
        <a:srgbClr val="006482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1473</Words>
  <Application>Microsoft Office PowerPoint</Application>
  <PresentationFormat>Widescreen</PresentationFormat>
  <Paragraphs>90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19</vt:i4>
      </vt:variant>
    </vt:vector>
  </HeadingPairs>
  <TitlesOfParts>
    <vt:vector size="29" baseType="lpstr">
      <vt:lpstr>Calibri</vt:lpstr>
      <vt:lpstr>Open Sans ExtraBold</vt:lpstr>
      <vt:lpstr>Arial Black</vt:lpstr>
      <vt:lpstr>Open Sans</vt:lpstr>
      <vt:lpstr>Oswald</vt:lpstr>
      <vt:lpstr>Arial</vt:lpstr>
      <vt:lpstr>Open Sans ExtraBold</vt:lpstr>
      <vt:lpstr>Arial Narrow</vt:lpstr>
      <vt:lpstr>Office Theme</vt:lpstr>
      <vt:lpstr>1_Office Theme</vt:lpstr>
      <vt:lpstr>HART &amp; SANA</vt:lpstr>
      <vt:lpstr>PowerPoint Presentation</vt:lpstr>
      <vt:lpstr>HART EFFICIENT VISUAL GENERATION WITH HYBRID  AUTOREGRESSIVE TRANSFORMER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SANA EFFICIENT HIGH-RESOLUTION IMAGE SYNTHESIS  WITH LINEAR DIFFUSION TRANSFORMERS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RECAP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Crystal Giraldo</dc:creator>
  <cp:lastModifiedBy>Jordan, Brody</cp:lastModifiedBy>
  <cp:revision>20</cp:revision>
  <dcterms:created xsi:type="dcterms:W3CDTF">2018-11-09T21:25:09Z</dcterms:created>
  <dcterms:modified xsi:type="dcterms:W3CDTF">2026-02-26T15:13:56Z</dcterms:modified>
</cp:coreProperties>
</file>